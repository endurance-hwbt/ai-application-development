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D060-9DB2-6FA4-2648-87EA6C218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465" y="2345539"/>
            <a:ext cx="8825658" cy="2677648"/>
          </a:xfrm>
        </p:spPr>
        <p:txBody>
          <a:bodyPr/>
          <a:lstStyle/>
          <a:p>
            <a:r>
              <a:rPr lang="en-IN" dirty="0"/>
              <a:t>TerraVista: Autonomous, Predictive, and Intelligent Garden Management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2E4D9-7467-6A53-2317-0B05043DE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8" y="4001729"/>
            <a:ext cx="10132477" cy="1936955"/>
          </a:xfrm>
        </p:spPr>
        <p:txBody>
          <a:bodyPr>
            <a:normAutofit/>
          </a:bodyPr>
          <a:lstStyle/>
          <a:p>
            <a:br>
              <a:rPr lang="en-IN" sz="1900" dirty="0"/>
            </a:br>
            <a:r>
              <a:rPr lang="en-US" sz="1900" dirty="0"/>
              <a:t>Leveraging LLMs, CNN, Vision model and RAG for Smart Plant Care</a:t>
            </a:r>
          </a:p>
          <a:p>
            <a:r>
              <a:rPr lang="en-US" dirty="0">
                <a:solidFill>
                  <a:schemeClr val="tx1"/>
                </a:solidFill>
              </a:rPr>
              <a:t>Piyush Kanthak:r23eq071</a:t>
            </a:r>
          </a:p>
          <a:p>
            <a:r>
              <a:rPr lang="en-US" dirty="0">
                <a:solidFill>
                  <a:schemeClr val="tx1"/>
                </a:solidFill>
              </a:rPr>
              <a:t>Jeevan C:R23eq044</a:t>
            </a:r>
          </a:p>
          <a:p>
            <a:r>
              <a:rPr lang="en-US" dirty="0">
                <a:solidFill>
                  <a:schemeClr val="tx1"/>
                </a:solidFill>
              </a:rPr>
              <a:t>Santosh :R23EQ046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406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F8C6E-5CB8-E668-4FF5-45EA66246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DBDD0-D0AE-3455-971E-CE912F6A8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" y="2458065"/>
            <a:ext cx="9733935" cy="377558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Garden upkeep still depends on </a:t>
            </a:r>
            <a:r>
              <a:rPr lang="en-US" b="1" dirty="0"/>
              <a:t>manual observation</a:t>
            </a:r>
            <a:r>
              <a:rPr lang="en-US" dirty="0"/>
              <a:t> and guesswork.</a:t>
            </a:r>
          </a:p>
          <a:p>
            <a:r>
              <a:rPr lang="en-US" b="1" dirty="0"/>
              <a:t>Plant diseases</a:t>
            </a:r>
            <a:r>
              <a:rPr lang="en-US" dirty="0"/>
              <a:t> are detected late, often after irreversible damage.</a:t>
            </a:r>
          </a:p>
          <a:p>
            <a:r>
              <a:rPr lang="en-US" b="1" dirty="0"/>
              <a:t>Growth tracking</a:t>
            </a:r>
            <a:r>
              <a:rPr lang="en-US" dirty="0"/>
              <a:t> (grass length, fruit maturity) requires physical inspection.</a:t>
            </a:r>
          </a:p>
          <a:p>
            <a:r>
              <a:rPr lang="en-US" b="1" dirty="0"/>
              <a:t>Unstructured tools</a:t>
            </a:r>
            <a:r>
              <a:rPr lang="en-US" dirty="0"/>
              <a:t> like reminders or soil sensors don’t provide real insights.</a:t>
            </a:r>
          </a:p>
          <a:p>
            <a:r>
              <a:rPr lang="en-US" b="1" dirty="0"/>
              <a:t>Lack of integration:</a:t>
            </a:r>
            <a:r>
              <a:rPr lang="en-US" dirty="0"/>
              <a:t> No unified view combining vision, weather, and care data.</a:t>
            </a:r>
          </a:p>
          <a:p>
            <a:r>
              <a:rPr lang="en-US" b="1" dirty="0"/>
              <a:t>Inconsistent maintenance:</a:t>
            </a:r>
            <a:r>
              <a:rPr lang="en-US" dirty="0"/>
              <a:t> Busy schedules cause skipped watering or late pruning.</a:t>
            </a:r>
          </a:p>
          <a:p>
            <a:r>
              <a:rPr lang="en-US" b="1" dirty="0"/>
              <a:t>Expertise gap:</a:t>
            </a:r>
            <a:r>
              <a:rPr lang="en-US" dirty="0"/>
              <a:t> Most home gardeners lack professional-level plant knowledge.</a:t>
            </a:r>
          </a:p>
          <a:p>
            <a:r>
              <a:rPr lang="en-US" b="1" dirty="0"/>
              <a:t>Environmental uncertainty:</a:t>
            </a:r>
            <a:r>
              <a:rPr lang="en-US" dirty="0"/>
              <a:t> Weather fluctuations disrupt planting and harvest plans.</a:t>
            </a:r>
          </a:p>
          <a:p>
            <a:r>
              <a:rPr lang="en-US" b="1" dirty="0"/>
              <a:t>Data blindness:</a:t>
            </a:r>
            <a:r>
              <a:rPr lang="en-US" dirty="0"/>
              <a:t> Traditional cameras capture rich information that remains unused.</a:t>
            </a:r>
          </a:p>
          <a:p>
            <a:r>
              <a:rPr lang="en-US" b="1" dirty="0"/>
              <a:t>→ The result:</a:t>
            </a:r>
            <a:r>
              <a:rPr lang="en-US" dirty="0"/>
              <a:t> reactive care, wasted effort, and missed opportunities for optimal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3239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93F7-7694-8B74-3247-560055AC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Product/ Solution -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52A0F-1957-7EFF-BDAD-1921072AA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6" y="2467897"/>
            <a:ext cx="9277270" cy="3699387"/>
          </a:xfrm>
        </p:spPr>
        <p:txBody>
          <a:bodyPr>
            <a:noAutofit/>
          </a:bodyPr>
          <a:lstStyle/>
          <a:p>
            <a:r>
              <a:rPr lang="en-US" sz="1600" b="1" dirty="0"/>
              <a:t>What It Is</a:t>
            </a:r>
          </a:p>
          <a:p>
            <a:r>
              <a:rPr lang="en-US" sz="1600" dirty="0" err="1"/>
              <a:t>TerraVista</a:t>
            </a:r>
            <a:r>
              <a:rPr lang="en-US" sz="1600" dirty="0"/>
              <a:t> is an </a:t>
            </a:r>
            <a:r>
              <a:rPr lang="en-US" sz="1600" b="1" dirty="0"/>
              <a:t>AI-powered garden intelligence system</a:t>
            </a:r>
            <a:r>
              <a:rPr lang="en-US" sz="1600" dirty="0"/>
              <a:t> that autonomously monitor, understand, and optimize plant care.</a:t>
            </a:r>
          </a:p>
          <a:p>
            <a:r>
              <a:rPr lang="en-US" sz="1600" dirty="0"/>
              <a:t>It </a:t>
            </a:r>
            <a:r>
              <a:rPr lang="en-US" sz="1600" b="1" dirty="0"/>
              <a:t>analyzes live video</a:t>
            </a:r>
            <a:r>
              <a:rPr lang="en-US" sz="1600" dirty="0"/>
              <a:t> to identify plants, detect diseases, estimate growth, and predict future needs — turning any garden into a self-managing, data-driven ecosystem.</a:t>
            </a:r>
          </a:p>
          <a:p>
            <a:r>
              <a:rPr lang="en-US" sz="1600" b="1" dirty="0"/>
              <a:t>How It Solves the Problems</a:t>
            </a:r>
          </a:p>
          <a:p>
            <a:r>
              <a:rPr lang="en-US" sz="1600" b="1" dirty="0"/>
              <a:t>Replaces manual monitoring</a:t>
            </a:r>
            <a:r>
              <a:rPr lang="en-US" sz="1600" dirty="0"/>
              <a:t> with continuous AI vision analysis.</a:t>
            </a:r>
          </a:p>
          <a:p>
            <a:r>
              <a:rPr lang="en-US" sz="1600" b="1" dirty="0"/>
              <a:t>Detects issues early</a:t>
            </a:r>
            <a:r>
              <a:rPr lang="en-US" sz="1600" dirty="0"/>
              <a:t> — pests, nutrient deficiencies, or overgrowth — before visible damage.</a:t>
            </a:r>
          </a:p>
          <a:p>
            <a:r>
              <a:rPr lang="en-US" sz="1600" b="1" dirty="0"/>
              <a:t>Provides expert-level guidance</a:t>
            </a:r>
            <a:r>
              <a:rPr lang="en-US" sz="1600" dirty="0"/>
              <a:t> via LLM reasoning trained on horticulture data.</a:t>
            </a:r>
          </a:p>
          <a:p>
            <a:r>
              <a:rPr lang="en-US" sz="1600" b="1" dirty="0"/>
              <a:t>Integrates weather forecasts</a:t>
            </a:r>
            <a:r>
              <a:rPr lang="en-US" sz="1600" dirty="0"/>
              <a:t> to predict watering, pruning, and harvest timings.</a:t>
            </a:r>
          </a:p>
          <a:p>
            <a:pPr marL="0" indent="0">
              <a:buNone/>
            </a:pP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276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08813-79EE-A024-265A-D7BA7185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We’ve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3AACA-FF8B-F91D-5628-D0FBDF62E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185652"/>
            <a:ext cx="9965329" cy="2202425"/>
          </a:xfrm>
        </p:spPr>
        <p:txBody>
          <a:bodyPr/>
          <a:lstStyle/>
          <a:p>
            <a:r>
              <a:rPr lang="en-US" b="1" dirty="0"/>
              <a:t>AI Detection:</a:t>
            </a:r>
            <a:r>
              <a:rPr lang="en-US" dirty="0"/>
              <a:t> Trained model detects 4 common apple leaf diseases</a:t>
            </a:r>
          </a:p>
          <a:p>
            <a:r>
              <a:rPr lang="en-US" b="1" dirty="0"/>
              <a:t>Interactive Front-End:</a:t>
            </a:r>
            <a:r>
              <a:rPr lang="en-US" dirty="0"/>
              <a:t> Live camera feed with instant disease identification</a:t>
            </a:r>
          </a:p>
          <a:p>
            <a:r>
              <a:rPr lang="en-US" b="1" dirty="0"/>
              <a:t>Smart Recommendations:</a:t>
            </a:r>
            <a:r>
              <a:rPr lang="en-US" dirty="0"/>
              <a:t> Language-based guidance for gardeners</a:t>
            </a:r>
          </a:p>
          <a:p>
            <a:r>
              <a:rPr lang="en-US" b="1" dirty="0"/>
              <a:t>Branding Video:</a:t>
            </a:r>
            <a:r>
              <a:rPr lang="en-US" dirty="0"/>
              <a:t> 30-second showcase explaining the system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259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A914-01BF-B75F-4950-7BF7DC06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showcase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3F34983-D683-4DA9-4F85-CE351A120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8465" y="2264679"/>
            <a:ext cx="8067901" cy="4354889"/>
          </a:xfrm>
        </p:spPr>
      </p:pic>
    </p:spTree>
    <p:extLst>
      <p:ext uri="{BB962C8B-B14F-4D97-AF65-F5344CB8AC3E}">
        <p14:creationId xmlns:p14="http://schemas.microsoft.com/office/powerpoint/2010/main" val="852261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A55F-3FB4-9CF0-0ECD-36DF4A18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Solutions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54E849-FB3F-3DE3-6117-804097FEF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7858" y="2072098"/>
            <a:ext cx="9261988" cy="4498310"/>
          </a:xfrm>
        </p:spPr>
      </p:pic>
    </p:spTree>
    <p:extLst>
      <p:ext uri="{BB962C8B-B14F-4D97-AF65-F5344CB8AC3E}">
        <p14:creationId xmlns:p14="http://schemas.microsoft.com/office/powerpoint/2010/main" val="1596008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C5652-BB04-7F41-96FB-BA567476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Branding video</a:t>
            </a:r>
          </a:p>
        </p:txBody>
      </p:sp>
      <p:pic>
        <p:nvPicPr>
          <p:cNvPr id="4" name="Brand video">
            <a:hlinkClick r:id="" action="ppaction://media"/>
            <a:extLst>
              <a:ext uri="{FF2B5EF4-FFF2-40B4-BE49-F238E27FC236}">
                <a16:creationId xmlns:a16="http://schemas.microsoft.com/office/drawing/2014/main" id="{CC856D07-D331-4DD0-745B-A528D9F9749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354" y="108154"/>
            <a:ext cx="12192708" cy="6749845"/>
          </a:xfrm>
        </p:spPr>
      </p:pic>
    </p:spTree>
    <p:extLst>
      <p:ext uri="{BB962C8B-B14F-4D97-AF65-F5344CB8AC3E}">
        <p14:creationId xmlns:p14="http://schemas.microsoft.com/office/powerpoint/2010/main" val="44831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0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DD80-0BFB-C167-E087-BB2435A5A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CE4F6-5D4F-5DE8-8DC5-4C7110288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2743199"/>
            <a:ext cx="9851923" cy="3608439"/>
          </a:xfrm>
        </p:spPr>
        <p:txBody>
          <a:bodyPr>
            <a:normAutofit/>
          </a:bodyPr>
          <a:lstStyle/>
          <a:p>
            <a:r>
              <a:rPr lang="en-IN" sz="2400" b="1" dirty="0"/>
              <a:t>Where We’re Heading Next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r>
              <a:rPr lang="en-IN" sz="2400" dirty="0"/>
              <a:t>Expand AI to </a:t>
            </a:r>
            <a:r>
              <a:rPr lang="en-IN" sz="2400" b="1" dirty="0"/>
              <a:t>more plants and diseases</a:t>
            </a:r>
            <a:endParaRPr lang="en-IN" sz="2400" dirty="0"/>
          </a:p>
          <a:p>
            <a:r>
              <a:rPr lang="en-IN" sz="2400" dirty="0"/>
              <a:t>Add </a:t>
            </a:r>
            <a:r>
              <a:rPr lang="en-IN" sz="2400" b="1" dirty="0"/>
              <a:t>automated irrigation and care recommendations</a:t>
            </a:r>
            <a:endParaRPr lang="en-IN" sz="2400" dirty="0"/>
          </a:p>
          <a:p>
            <a:r>
              <a:rPr lang="en-IN" sz="2400" dirty="0"/>
              <a:t>Deploy on </a:t>
            </a:r>
            <a:r>
              <a:rPr lang="en-IN" sz="2400" b="1" dirty="0"/>
              <a:t>mobile/tablet</a:t>
            </a:r>
            <a:r>
              <a:rPr lang="en-IN" sz="2400" dirty="0"/>
              <a:t> for wider access</a:t>
            </a:r>
          </a:p>
          <a:p>
            <a:r>
              <a:rPr lang="en-IN" sz="2400" dirty="0"/>
              <a:t>Implementing Vrikshayurveda: Our next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2360167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8A11-6079-1A5C-97D2-77468AAE3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437" y="875345"/>
            <a:ext cx="8761413" cy="706964"/>
          </a:xfrm>
        </p:spPr>
        <p:txBody>
          <a:bodyPr/>
          <a:lstStyle/>
          <a:p>
            <a:r>
              <a:rPr lang="en-IN" dirty="0"/>
              <a:t>Vrikshayurveda: The Next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AC478-1EA5-94BB-0046-1916A986B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2566218"/>
            <a:ext cx="10953135" cy="4149213"/>
          </a:xfrm>
        </p:spPr>
        <p:txBody>
          <a:bodyPr>
            <a:normAutofit/>
          </a:bodyPr>
          <a:lstStyle/>
          <a:p>
            <a:r>
              <a:rPr lang="en-US" sz="2400" b="1" dirty="0"/>
              <a:t>“Our next step: Smarter, holistic gardening guided by centuries of knowledge</a:t>
            </a:r>
            <a:r>
              <a:rPr lang="en-US" sz="2000" dirty="0"/>
              <a:t>”</a:t>
            </a:r>
          </a:p>
          <a:p>
            <a:r>
              <a:rPr lang="en-US" sz="1900" b="1" dirty="0"/>
              <a:t>Expand AI Knowledge:</a:t>
            </a:r>
            <a:r>
              <a:rPr lang="en-US" sz="1900" dirty="0"/>
              <a:t> Incorporate ancient plant care techniques for actionable insights</a:t>
            </a:r>
          </a:p>
          <a:p>
            <a:r>
              <a:rPr lang="en-US" sz="1900" b="1" dirty="0"/>
              <a:t>Holistic Recommendations:</a:t>
            </a:r>
            <a:r>
              <a:rPr lang="en-US" sz="1900" dirty="0"/>
              <a:t> Personalized suggestions combining modern detection + traditional wisdom</a:t>
            </a:r>
          </a:p>
          <a:p>
            <a:r>
              <a:rPr lang="en-US" sz="1900" b="1" dirty="0"/>
              <a:t>Future-Proof &amp; Scalable:</a:t>
            </a:r>
            <a:r>
              <a:rPr lang="en-US" sz="1900" dirty="0"/>
              <a:t> Adaptable to multiple plant types and regions</a:t>
            </a:r>
          </a:p>
          <a:p>
            <a:r>
              <a:rPr lang="en-US" sz="1900" b="1" dirty="0"/>
              <a:t>Interactive &amp; Engaging:</a:t>
            </a:r>
            <a:r>
              <a:rPr lang="en-US" sz="1900" dirty="0"/>
              <a:t> Mobile-friendly guidance that feels intuitive and alive</a:t>
            </a:r>
          </a:p>
          <a:p>
            <a:r>
              <a:rPr lang="en-US" sz="2400" b="1" i="1" dirty="0"/>
              <a:t>“</a:t>
            </a:r>
            <a:r>
              <a:rPr lang="en-US" sz="2400" b="1" i="1" dirty="0" err="1"/>
              <a:t>Vrikshayurveda</a:t>
            </a:r>
            <a:r>
              <a:rPr lang="en-US" sz="2400" b="1" i="1" dirty="0"/>
              <a:t> represents our vision of blending technology with nature — smarter gardening starts here.”</a:t>
            </a:r>
            <a:endParaRPr lang="en-US" sz="2400" b="1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03858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FD89-B857-7609-72BD-0DE4F29A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8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955C-175B-D379-14C6-41394EE2D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490" y="3028745"/>
            <a:ext cx="8761412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7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70706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238</TotalTime>
  <Words>434</Words>
  <Application>Microsoft Office PowerPoint</Application>
  <PresentationFormat>Widescreen</PresentationFormat>
  <Paragraphs>49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 Boardroom</vt:lpstr>
      <vt:lpstr>TerraVista: Autonomous, Predictive, and Intelligent Garden Management </vt:lpstr>
      <vt:lpstr>Problem Statement</vt:lpstr>
      <vt:lpstr>Product/ Solution - Innovation</vt:lpstr>
      <vt:lpstr>What We’ve Achieved</vt:lpstr>
      <vt:lpstr>Product showcase</vt:lpstr>
      <vt:lpstr>Solutions </vt:lpstr>
      <vt:lpstr>Branding video</vt:lpstr>
      <vt:lpstr>Future Roadmap</vt:lpstr>
      <vt:lpstr>Vrikshayurveda: The Next Evolution</vt:lpstr>
      <vt:lpstr>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Piyush Anil Kanthak</dc:creator>
  <cp:lastModifiedBy>Piyush Anil Kanthak</cp:lastModifiedBy>
  <cp:revision>2</cp:revision>
  <dcterms:created xsi:type="dcterms:W3CDTF">2025-12-04T12:53:03Z</dcterms:created>
  <dcterms:modified xsi:type="dcterms:W3CDTF">2025-12-04T16:53:33Z</dcterms:modified>
</cp:coreProperties>
</file>